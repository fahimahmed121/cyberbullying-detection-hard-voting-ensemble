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284B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14284B"/>
                </a:solidFill>
                <a:latin typeface="Arial"/>
              </a:rPr>
              <a:t>Original classes (≈ 8,000 each)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Tweets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Religion</c:v>
                </c:pt>
                <c:pt idx="1">
                  <c:v>Age</c:v>
                </c:pt>
                <c:pt idx="2">
                  <c:v>Gender</c:v>
                </c:pt>
                <c:pt idx="3">
                  <c:v>Ethnicity</c:v>
                </c:pt>
                <c:pt idx="4">
                  <c:v>Not cyberbullying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7998</c:v>
                </c:pt>
                <c:pt idx="1">
                  <c:v>7992</c:v>
                </c:pt>
                <c:pt idx="2">
                  <c:v>7973</c:v>
                </c:pt>
                <c:pt idx="3">
                  <c:v>7961</c:v>
                </c:pt>
                <c:pt idx="4">
                  <c:v>7945</c:v>
                </c:pt>
                <c:pt idx="5">
                  <c:v>7823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21276576"/>
        <c:axId val="1121277120"/>
      </c:barChart>
      <c:catAx>
        <c:axId val="1121276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121277120"/>
        <c:crosses val="autoZero"/>
        <c:auto val="1"/>
        <c:lblAlgn val="ctr"/>
        <c:lblOffset val="100"/>
        <c:noMultiLvlLbl val="1"/>
      </c:catAx>
      <c:valAx>
        <c:axId val="1121277120"/>
        <c:scaling>
          <c:orientation val="minMax"/>
          <c:max val="100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121276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284B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14284B"/>
                </a:solidFill>
                <a:latin typeface="Arial"/>
              </a:rPr>
              <a:t>Final binary dataset (17,805)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C896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Cyberbullying</c:v>
                </c:pt>
                <c:pt idx="1">
                  <c:v>Cyberbullying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7805</c:v>
                </c:pt>
                <c:pt idx="1">
                  <c:v>10000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17923680"/>
        <c:axId val="1191126720"/>
      </c:barChart>
      <c:catAx>
        <c:axId val="917923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191126720"/>
        <c:crosses val="autoZero"/>
        <c:auto val="1"/>
        <c:lblAlgn val="ctr"/>
        <c:lblOffset val="100"/>
        <c:noMultiLvlLbl val="1"/>
      </c:catAx>
      <c:valAx>
        <c:axId val="1191126720"/>
        <c:scaling>
          <c:orientation val="minMax"/>
          <c:max val="120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917923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284B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14284B"/>
                </a:solidFill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96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 Forest</c:v>
                </c:pt>
                <c:pt idx="1">
                  <c:v>Logistic Regression</c:v>
                </c:pt>
                <c:pt idx="2">
                  <c:v>Ensemble</c:v>
                </c:pt>
                <c:pt idx="3">
                  <c:v>SVM</c:v>
                </c:pt>
                <c:pt idx="4">
                  <c:v>Naïve Bayes</c:v>
                </c:pt>
                <c:pt idx="5">
                  <c:v>KNN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83.8</c:v>
                </c:pt>
                <c:pt idx="1">
                  <c:v>82.6</c:v>
                </c:pt>
                <c:pt idx="2">
                  <c:v>83.1</c:v>
                </c:pt>
                <c:pt idx="3">
                  <c:v>80.2</c:v>
                </c:pt>
                <c:pt idx="4">
                  <c:v>78.3</c:v>
                </c:pt>
                <c:pt idx="5">
                  <c:v>59.7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91133792"/>
        <c:axId val="1191127264"/>
      </c:barChart>
      <c:catAx>
        <c:axId val="1191133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191127264"/>
        <c:crosses val="autoZero"/>
        <c:auto val="1"/>
        <c:lblAlgn val="ctr"/>
        <c:lblOffset val="100"/>
        <c:noMultiLvlLbl val="1"/>
      </c:catAx>
      <c:valAx>
        <c:axId val="1191127264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191133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66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title and course. (~20 sec)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State the problem, then why an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Left chart = original; right = after cleaning and balancing.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15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Test set of 2,671 tweets.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Individual values are read from the accuracy bar graph (approximate).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Run the script live or show a screen recording. Replace the placeholder with your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with thanks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9050">
            <a:solidFill>
              <a:srgbClr val="C89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Hard-Voting Ensemble Approach for Cyberbullying Detection  |  CSE 4889  |  Group 10</a:t>
            </a:r>
            <a:endParaRPr lang="en-US" sz="1100" dirty="0"/>
          </a:p>
        </p:txBody>
      </p:sp>
      <p:sp>
        <p:nvSpPr>
          <p:cNvPr id="6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INTERNATIONAL UNIVERSITY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219456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Hard-Voting Ensemble Approach for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34924" y="22860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DETECTION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389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DETAILS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Machine </a:t>
            </a:r>
            <a:r>
              <a:rPr lang="en-US" sz="20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4889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F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Teacher: Kazi Fahim Tahmid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09360" y="4389120"/>
            <a:ext cx="0" cy="1463040"/>
          </a:xfrm>
          <a:prstGeom prst="line">
            <a:avLst/>
          </a:prstGeom>
          <a:noFill/>
          <a:ln w="25400">
            <a:solidFill>
              <a:srgbClr val="C896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43891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Fahim Ahmed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0112330413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Problem Statement and Motivation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5440680" cy="320040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441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83080"/>
            <a:ext cx="5074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on social media is too voluminous for manual moderation. Keyword filters fail on slang and context, and individual ML classifiers behave inconsistently across different kinds of text.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9632" y="1188720"/>
            <a:ext cx="5440680" cy="320040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99632" y="118872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82512" y="13441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382512" y="1783080"/>
            <a:ext cx="5074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content affects the psychological well-being of users. A simple, automated and reliable detector is needed. Combining diverse classifiers with richer features may be more dependable than any single model.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11091672" cy="13716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a feature-enriched hard-voting ensemble (TF-IDF + linguistic + sentiment features) detect cyberbullying more reliably than individual traditional ML classifiers?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Source, Size, Features and Target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253191"/>
              </p:ext>
            </p:extLst>
          </p:nvPr>
        </p:nvGraphicFramePr>
        <p:xfrm>
          <a:off x="548640" y="1234440"/>
          <a:ext cx="11091672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 err="1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</a:t>
                      </a:r>
                      <a:r>
                        <a:rPr lang="en-US" sz="19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Cyberbullying Classification (cyberbullying_tweets.csv)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47,692 tweets × 2 columns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tweet_text (raw tweet)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target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cyberbullying_type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9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classes: religion, age, gender, ethnicity, other_cyberbullying, not_cyberbullying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target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not_cyberbullying → 0;  all other five classes → 1 (Cyberbullying)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212080"/>
            <a:ext cx="11091672" cy="86868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features engineered from the text: 11 linguistic, sentiment and offensive-word features.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Data Characteristics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188720"/>
          <a:ext cx="57607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92240" y="118872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5166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informal English tweets (average ≈ 136 characters); no missing values used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texts removed after cleaning; cyberbullying class down-sampled to 10,000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imbalance in the final data (56% vs. 44%) – handled with stratified splitting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Overall Pipeline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057400" cy="6858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Dataset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057400" cy="201168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2148840"/>
            <a:ext cx="1837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47,692 Kaggle tweets → binary labels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587752" y="29260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07208" y="1463040"/>
            <a:ext cx="2057400" cy="6858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07208" y="1463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Preprocessing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807208" y="2148840"/>
            <a:ext cx="2057400" cy="201168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16936" y="2148840"/>
            <a:ext cx="1837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stopword removal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9260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65776" y="1463040"/>
            <a:ext cx="2057400" cy="6858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65776" y="1463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Features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065776" y="2148840"/>
            <a:ext cx="2057400" cy="201168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75504" y="2148840"/>
            <a:ext cx="1837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TF-IDF + 11 numeric = 8,011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104888" y="29260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24344" y="1463040"/>
            <a:ext cx="2057400" cy="6858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24344" y="1463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Modeling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7324344" y="2148840"/>
            <a:ext cx="2057400" cy="201168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34072" y="2148840"/>
            <a:ext cx="1837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+ hard voting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363456" y="29260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582912" y="1463040"/>
            <a:ext cx="2057400" cy="68580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82912" y="1463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Evaluation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9582912" y="2148840"/>
            <a:ext cx="2057400" cy="201168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92640" y="2148840"/>
            <a:ext cx="1837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split, metrics, 5-fold CV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text classification: Cyberbullying (1) vs. Not Cyberbullying (0). All models share the same preprocessing, features and data splits for a controlled comparison.</a:t>
            </a:r>
            <a:endParaRPr lang="en-US" sz="19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Data Preprocessing and Feature Engineering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5440680" cy="493776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441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of URLs, mentions and hashtags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expansion (can't → cannot)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and whitespace normalization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removal, keeping negations (not, no, never…)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texts dropped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199632" y="1188720"/>
            <a:ext cx="5440680" cy="493776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99632" y="118872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3441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(8,011)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82512" y="187452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(8,000): 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to trigrams, min_df = 2, max_df = 0.95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(6): 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word count, avg. word length, "!" count, "?" count, capital ratio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(4): 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positive, negative, neutral, compound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(1): 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offensive-word count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scaled with MinMaxScaler, then concatenated with TF-IDF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ML Algorithms and Hard-Voting Ensemble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949440" cy="3401568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210312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(LinearSVC)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1.0, max_iter = 2000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High-dimensional text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1.0, max_iter = 1000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baseline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trees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patterns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Bayes (Multinomial)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= 0.1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probabilistic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Similarity-based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772400" y="1188720"/>
            <a:ext cx="3867912" cy="393192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Voting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7955280" y="1828800"/>
            <a:ext cx="3520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→ Cyberbullying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→ Cyberbullying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Not Cyberbullying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→ Cyberbullying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→ Not Cyberbullying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Cyberbullying (3 of 5 votes)</a:t>
            </a:r>
            <a:endParaRPr lang="en-US" sz="1600" dirty="0"/>
          </a:p>
        </p:txBody>
      </p:sp>
      <p:sp>
        <p:nvSpPr>
          <p:cNvPr id="3" name="Text 4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decision of five classifiers (VotingClassifier, voting = "hard") </a:t>
            </a:r>
            <a:r>
              <a:rPr lang="en-US" sz="1800" b="1" dirty="0" smtClean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meta-learner.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Training Procedure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7891272" cy="1005840"/>
          </a:xfrm>
          <a:prstGeom prst="rect">
            <a:avLst/>
          </a:prstGeom>
          <a:solidFill>
            <a:srgbClr val="1428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34440"/>
            <a:ext cx="7891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12,463 tweets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439912" y="1234440"/>
            <a:ext cx="1600200" cy="1005840"/>
          </a:xfrm>
          <a:prstGeom prst="rect">
            <a:avLst/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39912" y="12344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40112" y="1234440"/>
            <a:ext cx="1600200" cy="1005840"/>
          </a:xfrm>
          <a:prstGeom prst="rect">
            <a:avLst/>
          </a:prstGeom>
          <a:solidFill>
            <a:srgbClr val="C896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40112" y="12344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1600" b="1" dirty="0" smtClean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06040"/>
            <a:ext cx="110916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of 17,805 tweets (random_state = 42) preserves class proportions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 and scaler fitted on the balanced dataset, then features combined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classifiers and the ensemble trained on the same 12,463 training samples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used to compare models; test set reserved for final evaluation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of the ensemble on the training set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Python, scikit-learn, NLTK (VADER), pandas, Matplotlib / Seaborn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Evaluation Metrics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65176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65176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83.08%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46704" y="1188720"/>
            <a:ext cx="265176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6704" y="1188720"/>
            <a:ext cx="265176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46704" y="1325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346704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(cyberbullying)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44768" y="1188720"/>
            <a:ext cx="265176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188720"/>
            <a:ext cx="265176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44768" y="1325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144768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(cyberbullying)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42832" y="1188720"/>
            <a:ext cx="265176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42832" y="1188720"/>
            <a:ext cx="265176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42832" y="1325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942832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(cyberbullying)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766560" cy="219456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Cyberbullying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Cyberbullying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7589520" y="2926080"/>
            <a:ext cx="4050792" cy="219456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589520" y="2926080"/>
            <a:ext cx="4050792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72400" y="3081528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0" y="3520440"/>
            <a:ext cx="3685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 82.75% (± 1.51%). Folds: 82.15, 81.87, 83.91, 83.31, 82.50 – consistent with test accuracy.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exceeds recall for the cyberbullying class: the ensemble is conservative and misses some harmful tweets.</a:t>
            </a:r>
            <a:endParaRPr lang="en-US" sz="18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Confusion Matrix of the Ensemble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Not Cyberbullying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Cyberbullying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Not Cyberbullying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1,007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2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7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Cyberbullying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2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1,212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708392" y="2105696"/>
            <a:ext cx="3931920" cy="173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1,007: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cleared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1,212: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detected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164: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288: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</a:t>
            </a:r>
            <a:r>
              <a:rPr lang="en-US" sz="20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-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costliest error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4754880"/>
            <a:ext cx="11091672" cy="118872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(1,007 + 1,212) / 2,671 = 83.08%. Reducing the 288 false negatives is the main priority for improvement.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 Comparison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143000"/>
          <a:ext cx="71323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955280" y="1371600"/>
            <a:ext cx="36850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best single model (≈ 84%)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(83.08%) matches Logistic Regression and beats SVM, Naïve Bayes and KNN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weakest (≈ 60%): distance measures degrade in sparse 8,011-dimensional space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stays far above its weakest member, so no single "best" classifier has to be chosen in advance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Important Findings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544068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441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and stable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830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83.08% test accuracy; 82.75% mean CV accuracy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9632" y="1188720"/>
            <a:ext cx="544068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99632" y="118872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82512" y="13441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better than the best single model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382512" y="17830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≈ 1 point below Random Forest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834640"/>
            <a:ext cx="544068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83464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99008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weak voters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4290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absorbs KNN's errors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9632" y="2834640"/>
            <a:ext cx="544068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9632" y="283464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82512" y="299008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errors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6382512" y="34290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0.88 &gt; recall 0.81; 288 missed tweets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480560"/>
            <a:ext cx="544068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448056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63600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hard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50749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and indirect insults remain difficult for TF-IDF-based models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99632" y="4480560"/>
            <a:ext cx="5440680" cy="146304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99632" y="4480560"/>
            <a:ext cx="544068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82512" y="463600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6382512" y="50749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English Twitter dataset; feature ablation not performed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234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cyberbullying_detection.py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176272"/>
            <a:ext cx="548640" cy="54864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1305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sentence in the console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72384"/>
            <a:ext cx="548640" cy="54864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072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0266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preprocessed; 8,011 features extracted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968496"/>
            <a:ext cx="548640" cy="54864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9227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classifiers vote; majority wins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864608"/>
            <a:ext cx="548640" cy="54864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8188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shown: Cyberbullying Detected / Not Cyberbullying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566160" cy="393192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56616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44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83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288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Feature-enriched hard-voting ensemble built from 5 classifiers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83.08% test accuracy, F1 = 0.84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SVM, NB, KNN; matches LR; ≈ 1 pt below RF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15968" y="1188720"/>
            <a:ext cx="3566160" cy="393192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5968" y="1188720"/>
            <a:ext cx="356616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1344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1783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18288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text and one dataset only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and context are missed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weak and slow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Untuned hyperparameters; simple keyword lexicon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74152" y="1188720"/>
            <a:ext cx="3566160" cy="3931920"/>
          </a:xfrm>
          <a:prstGeom prst="rect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74152" y="1188720"/>
            <a:ext cx="3566160" cy="6400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344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257032" y="17830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57032" y="18288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/ weighted voting and stacking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tuning; drop KNN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Recall-focused threshold tuning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BERT models; web deployment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5394960"/>
            <a:ext cx="11091672" cy="77724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delivers reliable, robust detection, though it does not beat every individual classifier.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4" hasCustomPrompt="1"/>
          </p:nvPr>
        </p:nvSpPr>
        <p:spPr>
          <a:xfrm>
            <a:off x="548640" y="91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S. Alam, S. Bhowmik, and P. R. K. Prosun, "Cyberbullying Detection: An Ensemble Based Machine Learning Approach," ICICV 2021, pp. 710–715.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F. Alqahtani and M. Ilyas, "A Machine Learning Ensemble Model for the Detection of Cyberbullying," Int. J. Artificial Intelligence &amp; Applications, vol. 15, no. 1, pp. 115–129, 2024.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Singh, A. Metta, and S. Patnaik, "Optimizing Cyberbullying Detection in Tweets with an Ensemble Learning Framework," J. Informatics Education and Research, vol. 5, no. 3, 2025.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andrewmvd, "Cyberbullying Classification," Kaggle dataset (cyberbullying_tweets.csv).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J. Hutto and E. Gilbert, "VADER: A Parsimonious Rule-Based Model for Sentiment Analysis of Social Media Text," ICWSM, 2014</a:t>
            </a:r>
            <a:r>
              <a:rPr lang="en-US" sz="15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5087155"/>
            <a:ext cx="11091672" cy="1085045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17121" y="5263917"/>
            <a:ext cx="2354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4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40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14284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1428</Words>
  <Application>Microsoft Office PowerPoint</Application>
  <PresentationFormat>Widescreen</PresentationFormat>
  <Paragraphs>247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Introduction: Problem Statement and Motivation</vt:lpstr>
      <vt:lpstr>Dataset: Source, Size, Features and Target</vt:lpstr>
      <vt:lpstr>Dataset: Data Characteristics</vt:lpstr>
      <vt:lpstr>Methodology: Overall Pipeline</vt:lpstr>
      <vt:lpstr>Methodology: Data Preprocessing and Feature Engineering</vt:lpstr>
      <vt:lpstr>Methodology: ML Algorithms and Hard-Voting Ensemble</vt:lpstr>
      <vt:lpstr>Methodology: Training Procedure</vt:lpstr>
      <vt:lpstr>Results: Evaluation Metrics</vt:lpstr>
      <vt:lpstr>Results: Confusion Matrix of the Ensemble</vt:lpstr>
      <vt:lpstr>Results: Model Comparison</vt:lpstr>
      <vt:lpstr>Results: Important Findings</vt:lpstr>
      <vt:lpstr>Demonstration</vt:lpstr>
      <vt:lpstr>Conclusion</vt:lpstr>
      <vt:lpstr>References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Fahim</cp:lastModifiedBy>
  <cp:revision>4</cp:revision>
  <dcterms:created xsi:type="dcterms:W3CDTF">2026-09-28T09:31:51Z</dcterms:created>
  <dcterms:modified xsi:type="dcterms:W3CDTF">2026-09-28T11:27:37Z</dcterms:modified>
</cp:coreProperties>
</file>